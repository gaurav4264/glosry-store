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5"/>
  </p:notesMasterIdLst>
  <p:handoutMasterIdLst>
    <p:handoutMasterId r:id="rId16"/>
  </p:handoutMasterIdLst>
  <p:sldIdLst>
    <p:sldId id="256" r:id="rId5"/>
    <p:sldId id="257" r:id="rId6"/>
    <p:sldId id="269" r:id="rId7"/>
    <p:sldId id="276" r:id="rId8"/>
    <p:sldId id="271" r:id="rId9"/>
    <p:sldId id="272" r:id="rId10"/>
    <p:sldId id="273" r:id="rId11"/>
    <p:sldId id="274" r:id="rId12"/>
    <p:sldId id="275"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09-May-26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09-May-26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6104455"/>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dirty="0" err="1">
                <a:latin typeface="Times New Roman" panose="02020603050405020304" pitchFamily="18" charset="0"/>
                <a:ea typeface="Calibri" panose="020F0502020204030204" pitchFamily="34" charset="0"/>
                <a:cs typeface="Times New Roman" panose="02020603050405020304" pitchFamily="18" charset="0"/>
              </a:rPr>
              <a:t>SabziKart</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dirty="0"/>
              <a:t>Hyperlocal Grocery Shopping and Delivery App </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All Members Details</a:t>
            </a: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Supervised By- Ajay Kumar</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graphicFrame>
        <p:nvGraphicFramePr>
          <p:cNvPr id="5" name="Table 4">
            <a:extLst>
              <a:ext uri="{FF2B5EF4-FFF2-40B4-BE49-F238E27FC236}">
                <a16:creationId xmlns:a16="http://schemas.microsoft.com/office/drawing/2014/main" id="{D0B886D2-F0C0-7483-F13C-E54A46136BA5}"/>
              </a:ext>
            </a:extLst>
          </p:cNvPr>
          <p:cNvGraphicFramePr>
            <a:graphicFrameLocks noGrp="1"/>
          </p:cNvGraphicFramePr>
          <p:nvPr>
            <p:extLst>
              <p:ext uri="{D42A27DB-BD31-4B8C-83A1-F6EECF244321}">
                <p14:modId xmlns:p14="http://schemas.microsoft.com/office/powerpoint/2010/main" val="3725372418"/>
              </p:ext>
            </p:extLst>
          </p:nvPr>
        </p:nvGraphicFramePr>
        <p:xfrm>
          <a:off x="2415267" y="2978458"/>
          <a:ext cx="4596493" cy="1828800"/>
        </p:xfrm>
        <a:graphic>
          <a:graphicData uri="http://schemas.openxmlformats.org/drawingml/2006/table">
            <a:tbl>
              <a:tblPr firstRow="1" bandRow="1">
                <a:tableStyleId>{5940675A-B579-460E-94D1-54222C63F5DA}</a:tableStyleId>
              </a:tblPr>
              <a:tblGrid>
                <a:gridCol w="2637065">
                  <a:extLst>
                    <a:ext uri="{9D8B030D-6E8A-4147-A177-3AD203B41FA5}">
                      <a16:colId xmlns:a16="http://schemas.microsoft.com/office/drawing/2014/main" val="3261372089"/>
                    </a:ext>
                  </a:extLst>
                </a:gridCol>
                <a:gridCol w="1959428">
                  <a:extLst>
                    <a:ext uri="{9D8B030D-6E8A-4147-A177-3AD203B41FA5}">
                      <a16:colId xmlns:a16="http://schemas.microsoft.com/office/drawing/2014/main" val="634212100"/>
                    </a:ext>
                  </a:extLst>
                </a:gridCol>
              </a:tblGrid>
              <a:tr h="356083">
                <a:tc>
                  <a:txBody>
                    <a:bodyPr/>
                    <a:lstStyle/>
                    <a:p>
                      <a:r>
                        <a:rPr lang="en-US" dirty="0"/>
                        <a:t>NAME</a:t>
                      </a:r>
                    </a:p>
                  </a:txBody>
                  <a:tcPr/>
                </a:tc>
                <a:tc>
                  <a:txBody>
                    <a:bodyPr/>
                    <a:lstStyle/>
                    <a:p>
                      <a:r>
                        <a:rPr lang="en-US" dirty="0"/>
                        <a:t>ROLL NUMBER</a:t>
                      </a:r>
                    </a:p>
                  </a:txBody>
                  <a:tcPr/>
                </a:tc>
                <a:extLst>
                  <a:ext uri="{0D108BD9-81ED-4DB2-BD59-A6C34878D82A}">
                    <a16:rowId xmlns:a16="http://schemas.microsoft.com/office/drawing/2014/main" val="3754238371"/>
                  </a:ext>
                </a:extLst>
              </a:tr>
              <a:tr h="356083">
                <a:tc>
                  <a:txBody>
                    <a:bodyPr/>
                    <a:lstStyle/>
                    <a:p>
                      <a:r>
                        <a:rPr lang="en-US" dirty="0"/>
                        <a:t>Chandrakant Kumar</a:t>
                      </a:r>
                    </a:p>
                  </a:txBody>
                  <a:tcPr/>
                </a:tc>
                <a:tc>
                  <a:txBody>
                    <a:bodyPr/>
                    <a:lstStyle/>
                    <a:p>
                      <a:r>
                        <a:rPr lang="en-US" dirty="0"/>
                        <a:t>2211981133</a:t>
                      </a:r>
                    </a:p>
                  </a:txBody>
                  <a:tcPr/>
                </a:tc>
                <a:extLst>
                  <a:ext uri="{0D108BD9-81ED-4DB2-BD59-A6C34878D82A}">
                    <a16:rowId xmlns:a16="http://schemas.microsoft.com/office/drawing/2014/main" val="3032689599"/>
                  </a:ext>
                </a:extLst>
              </a:tr>
              <a:tr h="356083">
                <a:tc>
                  <a:txBody>
                    <a:bodyPr/>
                    <a:lstStyle/>
                    <a:p>
                      <a:r>
                        <a:rPr lang="en-US" dirty="0" err="1"/>
                        <a:t>Himangshu</a:t>
                      </a:r>
                      <a:r>
                        <a:rPr lang="en-US" dirty="0"/>
                        <a:t> Choudhury</a:t>
                      </a:r>
                    </a:p>
                  </a:txBody>
                  <a:tcPr/>
                </a:tc>
                <a:tc>
                  <a:txBody>
                    <a:bodyPr/>
                    <a:lstStyle/>
                    <a:p>
                      <a:r>
                        <a:rPr lang="en-US" dirty="0"/>
                        <a:t>2211981170</a:t>
                      </a:r>
                    </a:p>
                  </a:txBody>
                  <a:tcPr/>
                </a:tc>
                <a:extLst>
                  <a:ext uri="{0D108BD9-81ED-4DB2-BD59-A6C34878D82A}">
                    <a16:rowId xmlns:a16="http://schemas.microsoft.com/office/drawing/2014/main" val="2406497845"/>
                  </a:ext>
                </a:extLst>
              </a:tr>
              <a:tr h="356083">
                <a:tc>
                  <a:txBody>
                    <a:bodyPr/>
                    <a:lstStyle/>
                    <a:p>
                      <a:r>
                        <a:rPr lang="en-US" dirty="0"/>
                        <a:t>Gaurav Kumar</a:t>
                      </a:r>
                    </a:p>
                  </a:txBody>
                  <a:tcPr/>
                </a:tc>
                <a:tc>
                  <a:txBody>
                    <a:bodyPr/>
                    <a:lstStyle/>
                    <a:p>
                      <a:r>
                        <a:rPr lang="en-US" dirty="0"/>
                        <a:t>2211981155</a:t>
                      </a:r>
                    </a:p>
                  </a:txBody>
                  <a:tcPr/>
                </a:tc>
                <a:extLst>
                  <a:ext uri="{0D108BD9-81ED-4DB2-BD59-A6C34878D82A}">
                    <a16:rowId xmlns:a16="http://schemas.microsoft.com/office/drawing/2014/main" val="2688417732"/>
                  </a:ext>
                </a:extLst>
              </a:tr>
              <a:tr h="356083">
                <a:tc>
                  <a:txBody>
                    <a:bodyPr/>
                    <a:lstStyle/>
                    <a:p>
                      <a:r>
                        <a:rPr lang="en-US" dirty="0" err="1"/>
                        <a:t>Gurveer</a:t>
                      </a:r>
                      <a:r>
                        <a:rPr lang="en-US" dirty="0"/>
                        <a:t> Singh</a:t>
                      </a:r>
                    </a:p>
                  </a:txBody>
                  <a:tcPr/>
                </a:tc>
                <a:tc>
                  <a:txBody>
                    <a:bodyPr/>
                    <a:lstStyle/>
                    <a:p>
                      <a:r>
                        <a:rPr lang="en-US" dirty="0"/>
                        <a:t>2210991602</a:t>
                      </a:r>
                    </a:p>
                  </a:txBody>
                  <a:tcPr/>
                </a:tc>
                <a:extLst>
                  <a:ext uri="{0D108BD9-81ED-4DB2-BD59-A6C34878D82A}">
                    <a16:rowId xmlns:a16="http://schemas.microsoft.com/office/drawing/2014/main" val="135067695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3886882" cy="4838571"/>
          </a:xfrm>
          <a:prstGeom prst="rect">
            <a:avLst/>
          </a:prstGeom>
          <a:noFill/>
          <a:ln w="9360">
            <a:noFill/>
          </a:ln>
        </p:spPr>
        <p:txBody>
          <a:bodyPr>
            <a:noAutofit/>
          </a:bodyPr>
          <a:lstStyle/>
          <a:p>
            <a:pPr marL="139700" lvl="0">
              <a:buClr>
                <a:srgbClr val="000000"/>
              </a:buClr>
              <a:buSzPts val="1400"/>
            </a:pPr>
            <a:r>
              <a:rPr lang="en-US" sz="2000" spc="-1" dirty="0">
                <a:solidFill>
                  <a:srgbClr val="000000"/>
                </a:solidFill>
                <a:latin typeface="Times New Roman" panose="02020603050405020304" pitchFamily="18" charset="0"/>
                <a:cs typeface="Times New Roman" panose="02020603050405020304" pitchFamily="18" charset="0"/>
              </a:rPr>
              <a:t>SabziKart is a modern, feature-rich online grocery platform bridging the gap between local vendors and digital shoppers.</a:t>
            </a:r>
          </a:p>
          <a:p>
            <a:pPr marL="139700" lvl="0">
              <a:buClr>
                <a:srgbClr val="000000"/>
              </a:buClr>
              <a:buSzPts val="1400"/>
            </a:pPr>
            <a:endParaRPr lang="en-US" sz="2000" spc="-1" dirty="0">
              <a:solidFill>
                <a:srgbClr val="000000"/>
              </a:solidFill>
              <a:latin typeface="Times New Roman" panose="02020603050405020304" pitchFamily="18" charset="0"/>
              <a:cs typeface="Times New Roman" panose="02020603050405020304" pitchFamily="18" charset="0"/>
            </a:endParaRPr>
          </a:p>
          <a:p>
            <a:pPr marL="139700" lvl="0">
              <a:buClr>
                <a:srgbClr val="000000"/>
              </a:buClr>
              <a:buSzPts val="1400"/>
            </a:pPr>
            <a:r>
              <a:rPr lang="en-US" sz="2000" spc="-1" dirty="0">
                <a:solidFill>
                  <a:srgbClr val="000000"/>
                </a:solidFill>
                <a:latin typeface="Times New Roman" panose="02020603050405020304" pitchFamily="18" charset="0"/>
                <a:cs typeface="Times New Roman" panose="02020603050405020304" pitchFamily="18" charset="0"/>
              </a:rPr>
              <a:t>Built using the MERN Stack, it provides a seamless, AI-driven experience for daily essentials with a focus on convenience and health.</a:t>
            </a:r>
            <a:endParaRPr lang="en-US" sz="20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3" name="Google Shape;85;p13" descr="image.png">
            <a:extLst>
              <a:ext uri="{FF2B5EF4-FFF2-40B4-BE49-F238E27FC236}">
                <a16:creationId xmlns:a16="http://schemas.microsoft.com/office/drawing/2014/main" id="{D831EA4E-21D8-9E43-BFF7-AE26D06F4E47}"/>
              </a:ext>
            </a:extLst>
          </p:cNvPr>
          <p:cNvPicPr preferRelativeResize="0"/>
          <p:nvPr/>
        </p:nvPicPr>
        <p:blipFill rotWithShape="1">
          <a:blip r:embed="rId2">
            <a:alphaModFix/>
          </a:blip>
          <a:srcRect/>
          <a:stretch/>
        </p:blipFill>
        <p:spPr>
          <a:xfrm>
            <a:off x="5442035" y="1109742"/>
            <a:ext cx="2885888" cy="2636348"/>
          </a:xfrm>
          <a:prstGeom prst="rect">
            <a:avLst/>
          </a:prstGeom>
          <a:noFill/>
          <a:ln>
            <a:noFill/>
          </a:ln>
        </p:spPr>
      </p:pic>
      <p:sp>
        <p:nvSpPr>
          <p:cNvPr id="4" name="TextBox 3">
            <a:extLst>
              <a:ext uri="{FF2B5EF4-FFF2-40B4-BE49-F238E27FC236}">
                <a16:creationId xmlns:a16="http://schemas.microsoft.com/office/drawing/2014/main" id="{3E1E8C74-A005-17C1-4D27-27FB23169F32}"/>
              </a:ext>
            </a:extLst>
          </p:cNvPr>
          <p:cNvSpPr txBox="1"/>
          <p:nvPr/>
        </p:nvSpPr>
        <p:spPr>
          <a:xfrm>
            <a:off x="5614218" y="3824749"/>
            <a:ext cx="2885887" cy="646331"/>
          </a:xfrm>
          <a:prstGeom prst="rect">
            <a:avLst/>
          </a:prstGeom>
          <a:noFill/>
        </p:spPr>
        <p:txBody>
          <a:bodyPr wrap="square" rtlCol="0">
            <a:spAutoFit/>
          </a:bodyPr>
          <a:lstStyle/>
          <a:p>
            <a:r>
              <a:rPr lang="en-US" sz="3600" b="1" dirty="0">
                <a:solidFill>
                  <a:srgbClr val="064E3B"/>
                </a:solidFill>
                <a:latin typeface="Poppins"/>
                <a:ea typeface="Poppins"/>
                <a:cs typeface="Poppins"/>
                <a:sym typeface="Poppins"/>
              </a:rPr>
              <a:t>SabziKart</a:t>
            </a:r>
            <a:endParaRPr lang="en-IN"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A2B3E-745B-656C-BF7D-A060A6F1FED2}"/>
              </a:ext>
            </a:extLst>
          </p:cNvPr>
          <p:cNvSpPr>
            <a:spLocks noGrp="1"/>
          </p:cNvSpPr>
          <p:nvPr>
            <p:ph type="title" idx="4294967295"/>
          </p:nvPr>
        </p:nvSpPr>
        <p:spPr>
          <a:xfrm>
            <a:off x="0" y="0"/>
            <a:ext cx="5486400" cy="914400"/>
          </a:xfrm>
        </p:spPr>
        <p:txBody>
          <a:bodyPr/>
          <a:lstStyle/>
          <a:p>
            <a:r>
              <a:rPr lang="en-US" sz="3200" dirty="0">
                <a:latin typeface="Times New Roman" panose="02020603050405020304" pitchFamily="18" charset="0"/>
                <a:cs typeface="Times New Roman" panose="02020603050405020304" pitchFamily="18" charset="0"/>
              </a:rPr>
              <a:t>Problem &amp; Objective</a:t>
            </a:r>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59D58CB-385A-C15F-0714-CA9DE4AFA363}"/>
              </a:ext>
            </a:extLst>
          </p:cNvPr>
          <p:cNvSpPr txBox="1"/>
          <p:nvPr/>
        </p:nvSpPr>
        <p:spPr>
          <a:xfrm>
            <a:off x="206477" y="1258529"/>
            <a:ext cx="7128388" cy="461665"/>
          </a:xfrm>
          <a:prstGeom prst="rect">
            <a:avLst/>
          </a:prstGeom>
          <a:noFill/>
        </p:spPr>
        <p:txBody>
          <a:bodyPr wrap="square" rtlCol="0">
            <a:spAutoFit/>
          </a:bodyPr>
          <a:lstStyle/>
          <a:p>
            <a:r>
              <a:rPr lang="en-US" sz="2400" b="1" dirty="0">
                <a:latin typeface="Times New Roman" panose="02020603050405020304" pitchFamily="18" charset="0"/>
                <a:ea typeface="Poppins"/>
                <a:cs typeface="Times New Roman" panose="02020603050405020304" pitchFamily="18" charset="0"/>
                <a:sym typeface="Poppins"/>
              </a:rPr>
              <a:t>The Problem</a:t>
            </a:r>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889B4D5-680C-0137-DF2D-3306C6F82A23}"/>
              </a:ext>
            </a:extLst>
          </p:cNvPr>
          <p:cNvSpPr txBox="1"/>
          <p:nvPr/>
        </p:nvSpPr>
        <p:spPr>
          <a:xfrm>
            <a:off x="206477" y="1907458"/>
            <a:ext cx="6223820"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Manual grocery shopping is time-consuming. Consumers face a lack of price transparency, limited inventory tracking, and healthy dietary guidance.</a:t>
            </a:r>
          </a:p>
        </p:txBody>
      </p:sp>
      <p:sp>
        <p:nvSpPr>
          <p:cNvPr id="6" name="TextBox 5">
            <a:extLst>
              <a:ext uri="{FF2B5EF4-FFF2-40B4-BE49-F238E27FC236}">
                <a16:creationId xmlns:a16="http://schemas.microsoft.com/office/drawing/2014/main" id="{C4DD6177-F0B7-77AF-B3D4-A8BCB10FC0E2}"/>
              </a:ext>
            </a:extLst>
          </p:cNvPr>
          <p:cNvSpPr txBox="1"/>
          <p:nvPr/>
        </p:nvSpPr>
        <p:spPr>
          <a:xfrm>
            <a:off x="206477" y="3165986"/>
            <a:ext cx="5987845" cy="461665"/>
          </a:xfrm>
          <a:prstGeom prst="rect">
            <a:avLst/>
          </a:prstGeom>
          <a:noFill/>
        </p:spPr>
        <p:txBody>
          <a:bodyPr wrap="square" rtlCol="0">
            <a:spAutoFit/>
          </a:bodyPr>
          <a:lstStyle/>
          <a:p>
            <a:r>
              <a:rPr lang="en-US" sz="2400" b="1" dirty="0">
                <a:latin typeface="Times New Roman" panose="02020603050405020304" pitchFamily="18" charset="0"/>
                <a:ea typeface="Poppins"/>
                <a:cs typeface="Times New Roman" panose="02020603050405020304" pitchFamily="18" charset="0"/>
                <a:sym typeface="Poppins"/>
              </a:rPr>
              <a:t>The Objective</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B6C9022-4FA9-99BB-C6D3-92A74D9311ED}"/>
              </a:ext>
            </a:extLst>
          </p:cNvPr>
          <p:cNvSpPr txBox="1"/>
          <p:nvPr/>
        </p:nvSpPr>
        <p:spPr>
          <a:xfrm>
            <a:off x="206477" y="3903406"/>
            <a:ext cx="5987844" cy="129266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To develop a smart, multi-role (Customer/Seller/Vendor) platform that integrates AI assistance and secure payments for an efficient shopping journey.</a:t>
            </a:r>
          </a:p>
          <a:p>
            <a:endParaRPr lang="en-IN" dirty="0"/>
          </a:p>
        </p:txBody>
      </p:sp>
    </p:spTree>
    <p:extLst>
      <p:ext uri="{BB962C8B-B14F-4D97-AF65-F5344CB8AC3E}">
        <p14:creationId xmlns:p14="http://schemas.microsoft.com/office/powerpoint/2010/main" val="3607194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46E39-388C-2F76-1D8C-ED9B478E8188}"/>
              </a:ext>
            </a:extLst>
          </p:cNvPr>
          <p:cNvSpPr>
            <a:spLocks noGrp="1"/>
          </p:cNvSpPr>
          <p:nvPr>
            <p:ph type="title" idx="4294967295"/>
          </p:nvPr>
        </p:nvSpPr>
        <p:spPr>
          <a:xfrm>
            <a:off x="0" y="0"/>
            <a:ext cx="5486400" cy="914400"/>
          </a:xfrm>
        </p:spPr>
        <p:txBody>
          <a:bodyPr/>
          <a:lstStyle/>
          <a:p>
            <a:r>
              <a:rPr lang="en-US" sz="3200" dirty="0">
                <a:latin typeface="Times New Roman" panose="02020603050405020304" pitchFamily="18" charset="0"/>
                <a:cs typeface="Times New Roman" panose="02020603050405020304" pitchFamily="18" charset="0"/>
              </a:rPr>
              <a:t>Architecture</a:t>
            </a:r>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BEB2E19-D92E-1338-970D-D3696C56E534}"/>
              </a:ext>
            </a:extLst>
          </p:cNvPr>
          <p:cNvSpPr txBox="1"/>
          <p:nvPr/>
        </p:nvSpPr>
        <p:spPr>
          <a:xfrm>
            <a:off x="0" y="914400"/>
            <a:ext cx="8023122" cy="67710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SabziKart follows a high-performance three-tier architecture:</a:t>
            </a:r>
            <a:endParaRPr lang="en-IN" sz="2000" dirty="0">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CD7F1478-4925-BD8E-2657-122FC9707310}"/>
              </a:ext>
            </a:extLst>
          </p:cNvPr>
          <p:cNvSpPr txBox="1"/>
          <p:nvPr/>
        </p:nvSpPr>
        <p:spPr>
          <a:xfrm>
            <a:off x="0" y="5014451"/>
            <a:ext cx="6951406" cy="132343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Frontend:</a:t>
            </a:r>
            <a:r>
              <a:rPr lang="en-US" sz="2000" dirty="0">
                <a:latin typeface="Times New Roman" panose="02020603050405020304" pitchFamily="18" charset="0"/>
                <a:cs typeface="Times New Roman" panose="02020603050405020304" pitchFamily="18" charset="0"/>
              </a:rPr>
              <a:t> React.js for interactive UI.</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Backend:</a:t>
            </a:r>
            <a:r>
              <a:rPr lang="en-US" sz="2000" dirty="0">
                <a:latin typeface="Times New Roman" panose="02020603050405020304" pitchFamily="18" charset="0"/>
                <a:cs typeface="Times New Roman" panose="02020603050405020304" pitchFamily="18" charset="0"/>
              </a:rPr>
              <a:t> Node.js &amp; Express.js for scalable API logic.</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Database:</a:t>
            </a:r>
            <a:r>
              <a:rPr lang="en-US" sz="2000" dirty="0">
                <a:latin typeface="Times New Roman" panose="02020603050405020304" pitchFamily="18" charset="0"/>
                <a:cs typeface="Times New Roman" panose="02020603050405020304" pitchFamily="18" charset="0"/>
              </a:rPr>
              <a:t> MongoDB for flexible data storage.</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Cloud:</a:t>
            </a:r>
            <a:r>
              <a:rPr lang="en-US" sz="2000" dirty="0">
                <a:latin typeface="Times New Roman" panose="02020603050405020304" pitchFamily="18" charset="0"/>
                <a:cs typeface="Times New Roman" panose="02020603050405020304" pitchFamily="18" charset="0"/>
              </a:rPr>
              <a:t> Cloudinary for image management.</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89E76AF-2527-BC56-1E2B-44E699BE60C3}"/>
              </a:ext>
            </a:extLst>
          </p:cNvPr>
          <p:cNvPicPr>
            <a:picLocks noChangeAspect="1"/>
          </p:cNvPicPr>
          <p:nvPr/>
        </p:nvPicPr>
        <p:blipFill>
          <a:blip r:embed="rId2"/>
          <a:stretch>
            <a:fillRect/>
          </a:stretch>
        </p:blipFill>
        <p:spPr>
          <a:xfrm>
            <a:off x="560439" y="1331612"/>
            <a:ext cx="5319251" cy="3539613"/>
          </a:xfrm>
          <a:prstGeom prst="rect">
            <a:avLst/>
          </a:prstGeom>
        </p:spPr>
      </p:pic>
    </p:spTree>
    <p:extLst>
      <p:ext uri="{BB962C8B-B14F-4D97-AF65-F5344CB8AC3E}">
        <p14:creationId xmlns:p14="http://schemas.microsoft.com/office/powerpoint/2010/main" val="3090255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72DE6-5470-71D8-1E2D-F1DD9795A92E}"/>
              </a:ext>
            </a:extLst>
          </p:cNvPr>
          <p:cNvSpPr>
            <a:spLocks noGrp="1"/>
          </p:cNvSpPr>
          <p:nvPr>
            <p:ph type="title" idx="4294967295"/>
          </p:nvPr>
        </p:nvSpPr>
        <p:spPr>
          <a:xfrm>
            <a:off x="0" y="0"/>
            <a:ext cx="5486400" cy="914400"/>
          </a:xfrm>
        </p:spPr>
        <p:txBody>
          <a:bodyPr/>
          <a:lstStyle/>
          <a:p>
            <a:r>
              <a:rPr lang="en-US" sz="3200" dirty="0">
                <a:latin typeface="Times New Roman" panose="02020603050405020304" pitchFamily="18" charset="0"/>
                <a:cs typeface="Times New Roman" panose="02020603050405020304" pitchFamily="18" charset="0"/>
              </a:rPr>
              <a:t>User Interface</a:t>
            </a:r>
            <a:endParaRPr lang="en-IN"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E21C3DC-5563-76CA-1250-65C7490082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8201" y="1153816"/>
            <a:ext cx="3150573" cy="2012172"/>
          </a:xfrm>
          <a:prstGeom prst="rect">
            <a:avLst/>
          </a:prstGeom>
        </p:spPr>
      </p:pic>
      <p:pic>
        <p:nvPicPr>
          <p:cNvPr id="8" name="Picture 7">
            <a:extLst>
              <a:ext uri="{FF2B5EF4-FFF2-40B4-BE49-F238E27FC236}">
                <a16:creationId xmlns:a16="http://schemas.microsoft.com/office/drawing/2014/main" id="{DFC63431-EC4D-AFC1-1A67-D0342A0DBAB9}"/>
              </a:ext>
            </a:extLst>
          </p:cNvPr>
          <p:cNvPicPr>
            <a:picLocks noChangeAspect="1"/>
          </p:cNvPicPr>
          <p:nvPr/>
        </p:nvPicPr>
        <p:blipFill>
          <a:blip r:embed="rId3"/>
          <a:stretch>
            <a:fillRect/>
          </a:stretch>
        </p:blipFill>
        <p:spPr>
          <a:xfrm>
            <a:off x="4772640" y="1153816"/>
            <a:ext cx="3584780" cy="2501009"/>
          </a:xfrm>
          <a:prstGeom prst="rect">
            <a:avLst/>
          </a:prstGeom>
        </p:spPr>
      </p:pic>
      <p:pic>
        <p:nvPicPr>
          <p:cNvPr id="11" name="Picture 10">
            <a:extLst>
              <a:ext uri="{FF2B5EF4-FFF2-40B4-BE49-F238E27FC236}">
                <a16:creationId xmlns:a16="http://schemas.microsoft.com/office/drawing/2014/main" id="{5B86A7CA-4C2D-7592-2F9C-195FFC6D5017}"/>
              </a:ext>
            </a:extLst>
          </p:cNvPr>
          <p:cNvPicPr>
            <a:picLocks noChangeAspect="1"/>
          </p:cNvPicPr>
          <p:nvPr/>
        </p:nvPicPr>
        <p:blipFill>
          <a:blip r:embed="rId4"/>
          <a:stretch>
            <a:fillRect/>
          </a:stretch>
        </p:blipFill>
        <p:spPr>
          <a:xfrm>
            <a:off x="438980" y="3654825"/>
            <a:ext cx="3670904" cy="2661100"/>
          </a:xfrm>
          <a:prstGeom prst="rect">
            <a:avLst/>
          </a:prstGeom>
        </p:spPr>
      </p:pic>
      <p:pic>
        <p:nvPicPr>
          <p:cNvPr id="14" name="Picture 13">
            <a:extLst>
              <a:ext uri="{FF2B5EF4-FFF2-40B4-BE49-F238E27FC236}">
                <a16:creationId xmlns:a16="http://schemas.microsoft.com/office/drawing/2014/main" id="{35FEDAD8-D53E-7228-8C6D-B088F945D269}"/>
              </a:ext>
            </a:extLst>
          </p:cNvPr>
          <p:cNvPicPr>
            <a:picLocks noChangeAspect="1"/>
          </p:cNvPicPr>
          <p:nvPr/>
        </p:nvPicPr>
        <p:blipFill>
          <a:blip r:embed="rId5"/>
          <a:stretch>
            <a:fillRect/>
          </a:stretch>
        </p:blipFill>
        <p:spPr>
          <a:xfrm>
            <a:off x="4925961" y="4041060"/>
            <a:ext cx="3333135" cy="2097886"/>
          </a:xfrm>
          <a:prstGeom prst="rect">
            <a:avLst/>
          </a:prstGeom>
        </p:spPr>
      </p:pic>
    </p:spTree>
    <p:extLst>
      <p:ext uri="{BB962C8B-B14F-4D97-AF65-F5344CB8AC3E}">
        <p14:creationId xmlns:p14="http://schemas.microsoft.com/office/powerpoint/2010/main" val="129436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B01E3-4A6D-45F2-FEAF-5FCFB088C2EB}"/>
              </a:ext>
            </a:extLst>
          </p:cNvPr>
          <p:cNvSpPr>
            <a:spLocks noGrp="1"/>
          </p:cNvSpPr>
          <p:nvPr>
            <p:ph type="title" idx="4294967295"/>
          </p:nvPr>
        </p:nvSpPr>
        <p:spPr>
          <a:xfrm>
            <a:off x="0" y="0"/>
            <a:ext cx="5486400" cy="914400"/>
          </a:xfrm>
        </p:spPr>
        <p:txBody>
          <a:bodyPr/>
          <a:lstStyle/>
          <a:p>
            <a:r>
              <a:rPr lang="en-US" sz="3200" dirty="0">
                <a:latin typeface="Times New Roman" panose="02020603050405020304" pitchFamily="18" charset="0"/>
                <a:cs typeface="Times New Roman" panose="02020603050405020304" pitchFamily="18" charset="0"/>
              </a:rPr>
              <a:t>Working</a:t>
            </a:r>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730B311-43D0-91BF-BCC3-E9DE3775FCA2}"/>
              </a:ext>
            </a:extLst>
          </p:cNvPr>
          <p:cNvSpPr txBox="1"/>
          <p:nvPr/>
        </p:nvSpPr>
        <p:spPr>
          <a:xfrm>
            <a:off x="127819" y="1120877"/>
            <a:ext cx="8868697" cy="535531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The AI Grocery List Scanner is a pretty cool tool that uses Google's Gemini AI to look at pictures of your grocery list. It can figure out what you've written, whether it's handwritten, printed, or even just a photo of the actual item. Then, it shows you the matching products and you can add them to your cart.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Vendor Dashboard — Vendors can accept, reject, pack, ship, and deliver orders; real-time stats (revenue, pending, delivered) with order search and filter.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Seller Application System — Complete flow implemented: Seller registration → Admin approval → Password setup → Dashboard login; application status trackable via application number.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All Products Page — Category, price (low/high), and rating filters with keyword search implemented; responsive product grid layout.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Here's how it works: we use Google OAuth2 for logging in and JWT for registering, logging        in, and logging out with an email and password. We also let users upload a profile picture using Cloudinary.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4478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6FBA-3368-C0B8-5EE6-A3DEB661FEF7}"/>
              </a:ext>
            </a:extLst>
          </p:cNvPr>
          <p:cNvSpPr>
            <a:spLocks noGrp="1"/>
          </p:cNvSpPr>
          <p:nvPr>
            <p:ph type="title" idx="4294967295"/>
          </p:nvPr>
        </p:nvSpPr>
        <p:spPr>
          <a:xfrm>
            <a:off x="0" y="0"/>
            <a:ext cx="5486400" cy="914400"/>
          </a:xfrm>
        </p:spPr>
        <p:txBody>
          <a:bodyPr/>
          <a:lstStyle/>
          <a:p>
            <a:r>
              <a:rPr lang="en-US" sz="3200" dirty="0">
                <a:latin typeface="Times New Roman" panose="02020603050405020304" pitchFamily="18" charset="0"/>
                <a:cs typeface="Times New Roman" panose="02020603050405020304" pitchFamily="18" charset="0"/>
              </a:rPr>
              <a:t>Extra Features</a:t>
            </a:r>
            <a:endParaRPr lang="en-IN" sz="3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A4E8D7C-E11B-FE9C-6B63-F9528EC67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14400"/>
            <a:ext cx="4429743" cy="819264"/>
          </a:xfrm>
          <a:prstGeom prst="rect">
            <a:avLst/>
          </a:prstGeom>
        </p:spPr>
      </p:pic>
      <p:pic>
        <p:nvPicPr>
          <p:cNvPr id="10" name="Picture 9">
            <a:extLst>
              <a:ext uri="{FF2B5EF4-FFF2-40B4-BE49-F238E27FC236}">
                <a16:creationId xmlns:a16="http://schemas.microsoft.com/office/drawing/2014/main" id="{ED4E1595-489C-42ED-B068-F2357A56F5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422" y="2101998"/>
            <a:ext cx="2314898" cy="1552792"/>
          </a:xfrm>
          <a:prstGeom prst="rect">
            <a:avLst/>
          </a:prstGeom>
        </p:spPr>
      </p:pic>
      <p:pic>
        <p:nvPicPr>
          <p:cNvPr id="12" name="Picture 11">
            <a:extLst>
              <a:ext uri="{FF2B5EF4-FFF2-40B4-BE49-F238E27FC236}">
                <a16:creationId xmlns:a16="http://schemas.microsoft.com/office/drawing/2014/main" id="{B2A0CCBA-7B46-C78E-1ACF-36AB47BEE0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825" y="4023124"/>
            <a:ext cx="4167967" cy="2289186"/>
          </a:xfrm>
          <a:prstGeom prst="rect">
            <a:avLst/>
          </a:prstGeom>
        </p:spPr>
      </p:pic>
      <p:pic>
        <p:nvPicPr>
          <p:cNvPr id="14" name="Picture 13">
            <a:extLst>
              <a:ext uri="{FF2B5EF4-FFF2-40B4-BE49-F238E27FC236}">
                <a16:creationId xmlns:a16="http://schemas.microsoft.com/office/drawing/2014/main" id="{6D59D67B-1169-DEDB-D711-6AEBC56ED1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94793" y="1123979"/>
            <a:ext cx="4839375" cy="609685"/>
          </a:xfrm>
          <a:prstGeom prst="rect">
            <a:avLst/>
          </a:prstGeom>
        </p:spPr>
      </p:pic>
      <p:pic>
        <p:nvPicPr>
          <p:cNvPr id="16" name="Picture 15">
            <a:extLst>
              <a:ext uri="{FF2B5EF4-FFF2-40B4-BE49-F238E27FC236}">
                <a16:creationId xmlns:a16="http://schemas.microsoft.com/office/drawing/2014/main" id="{BBFF93D3-566B-C19A-5300-4AD6105D6C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18770" y="1585307"/>
            <a:ext cx="3391420" cy="2763607"/>
          </a:xfrm>
          <a:prstGeom prst="rect">
            <a:avLst/>
          </a:prstGeom>
        </p:spPr>
      </p:pic>
      <p:pic>
        <p:nvPicPr>
          <p:cNvPr id="18" name="Picture 17">
            <a:extLst>
              <a:ext uri="{FF2B5EF4-FFF2-40B4-BE49-F238E27FC236}">
                <a16:creationId xmlns:a16="http://schemas.microsoft.com/office/drawing/2014/main" id="{BED8C705-5B70-4AA0-B180-C86211E7449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29743" y="4591665"/>
            <a:ext cx="4587432" cy="2046709"/>
          </a:xfrm>
          <a:prstGeom prst="rect">
            <a:avLst/>
          </a:prstGeom>
        </p:spPr>
      </p:pic>
    </p:spTree>
    <p:extLst>
      <p:ext uri="{BB962C8B-B14F-4D97-AF65-F5344CB8AC3E}">
        <p14:creationId xmlns:p14="http://schemas.microsoft.com/office/powerpoint/2010/main" val="2793857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41DE2-0CC9-CE86-A288-0188EF6EC953}"/>
              </a:ext>
            </a:extLst>
          </p:cNvPr>
          <p:cNvSpPr>
            <a:spLocks noGrp="1"/>
          </p:cNvSpPr>
          <p:nvPr>
            <p:ph type="title" idx="4294967295"/>
          </p:nvPr>
        </p:nvSpPr>
        <p:spPr>
          <a:xfrm>
            <a:off x="0" y="0"/>
            <a:ext cx="5486400" cy="914400"/>
          </a:xfrm>
        </p:spPr>
        <p:txBody>
          <a:bodyPr/>
          <a:lstStyle/>
          <a:p>
            <a:r>
              <a:rPr lang="en-US" sz="3200" dirty="0">
                <a:latin typeface="Times New Roman" panose="02020603050405020304" pitchFamily="18" charset="0"/>
                <a:cs typeface="Times New Roman" panose="02020603050405020304" pitchFamily="18" charset="0"/>
              </a:rPr>
              <a:t>Results</a:t>
            </a:r>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1131613-1BE9-F23B-7271-60B68C9A3A19}"/>
              </a:ext>
            </a:extLst>
          </p:cNvPr>
          <p:cNvSpPr txBox="1"/>
          <p:nvPr/>
        </p:nvSpPr>
        <p:spPr>
          <a:xfrm>
            <a:off x="137652" y="1111045"/>
            <a:ext cx="8711380" cy="347787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The AI grocery list scanner is really good at figuring out what's in your photos and              matching them to the right items.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Vendor dashboard fully functional — orders managed with real-time status updates.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The seller sign-up process is now fully operational, with registration, approval,       and login features all functioning as intended.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Product filters, search, and user authentication working smoothly and securely.</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6859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82D43-A345-A135-3031-D9B54C381DF5}"/>
              </a:ext>
            </a:extLst>
          </p:cNvPr>
          <p:cNvSpPr>
            <a:spLocks noGrp="1"/>
          </p:cNvSpPr>
          <p:nvPr>
            <p:ph type="title" idx="4294967295"/>
          </p:nvPr>
        </p:nvSpPr>
        <p:spPr>
          <a:xfrm>
            <a:off x="0" y="0"/>
            <a:ext cx="5486400" cy="914400"/>
          </a:xfrm>
        </p:spPr>
        <p:txBody>
          <a:bodyPr/>
          <a:lstStyle/>
          <a:p>
            <a:r>
              <a:rPr lang="en-US" sz="3200" dirty="0">
                <a:latin typeface="Times New Roman" panose="02020603050405020304" pitchFamily="18" charset="0"/>
                <a:cs typeface="Times New Roman" panose="02020603050405020304" pitchFamily="18" charset="0"/>
              </a:rPr>
              <a:t>Conclusion</a:t>
            </a:r>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FB43647-F7A1-F786-A6F1-45ED86258F14}"/>
              </a:ext>
            </a:extLst>
          </p:cNvPr>
          <p:cNvSpPr txBox="1"/>
          <p:nvPr/>
        </p:nvSpPr>
        <p:spPr>
          <a:xfrm>
            <a:off x="176981" y="1061884"/>
            <a:ext cx="8790038" cy="37856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SabziKart is a new way to shop for groceries online. It's a platform that makes buying fresh produce and daily essentials easy. The site is built using the latest technology, which means it's fast and easy to use. When you shop on SabziKart, you can see what's in stock in real-time, and you can even use a special tool to scan your groceries. The site also helps reduce waste and tracks deliveries in an eco-friendly way. Plus, you can earn rewards and loyalty points as you shop. For sellers, SabziKart makes it easy to manage their listings and keep track of sales. The platform brings local vendors and online shopping together, creating a community-driven marketplace that's good for everyone. With features like personalized shopping and smart checkout, SabziKart is changing the way we buy groceries online. It's a more sustainable and community-focused way to shop, and it's making a difference for both buyers and sellers.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7069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34827</TotalTime>
  <Words>668</Words>
  <Application>Microsoft Office PowerPoint</Application>
  <PresentationFormat>On-screen Show (4:3)</PresentationFormat>
  <Paragraphs>67</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Poppins</vt:lpstr>
      <vt:lpstr>Times New Roman</vt:lpstr>
      <vt:lpstr>Office Theme</vt:lpstr>
      <vt:lpstr>PowerPoint Presentation</vt:lpstr>
      <vt:lpstr>PowerPoint Presentation</vt:lpstr>
      <vt:lpstr>Problem &amp; Objective</vt:lpstr>
      <vt:lpstr>Architecture</vt:lpstr>
      <vt:lpstr>User Interface</vt:lpstr>
      <vt:lpstr>Working</vt:lpstr>
      <vt:lpstr>Extra Features</vt:lpstr>
      <vt:lpstr>Results</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chandrakant kumar</cp:lastModifiedBy>
  <cp:revision>2302</cp:revision>
  <dcterms:created xsi:type="dcterms:W3CDTF">2010-04-09T07:36:15Z</dcterms:created>
  <dcterms:modified xsi:type="dcterms:W3CDTF">2026-05-09T09:03:27Z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